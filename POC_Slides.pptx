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384048"/>
            <a:ext cx="201168" cy="201168"/>
          </a:xfrm>
          <a:prstGeom prst="ellipse">
            <a:avLst/>
          </a:prstGeom>
          <a:solidFill>
            <a:srgbClr val="F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33"/>
                </a:solidFill>
                <a:latin typeface="Segoe UI"/>
              </a:rPr>
              <a:t>Firstsource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Segoe UI"/>
              </a:rPr>
              <a:t>Incoming Request Processing Workflow  ·  POC  ·  Deepesh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FD6"/>
                </a:solidFill>
                <a:latin typeface="Segoe UI"/>
              </a:rPr>
              <a:t>SLIDE 1  ·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A33"/>
                </a:solidFill>
                <a:latin typeface="Segoe UI"/>
              </a:rPr>
              <a:t>Problem Understanding and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822960" cy="54864"/>
          </a:xfrm>
          <a:prstGeom prst="rect">
            <a:avLst/>
          </a:prstGeom>
          <a:solidFill>
            <a:srgbClr val="0B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5FD6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Support / BPO teams receive high volumes of mixed, unlabelled messages across email, web forms, chat and shared inboxes.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A human must read each one, judge type and urgency, route it, and log it — this manual triage is slow, inconsistent, and costly to scale.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Urgent complaints wait in the same queue as trivial questions, so SLAs slip and cost per contact stays high.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5FD6"/>
                </a:solidFill>
                <a:latin typeface="Segoe UI"/>
              </a:rPr>
              <a:t>The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An AI prototype that classifies each request AND runs a distinct multi-step remediation workflow per type — not just a label.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Prioritise urgent cases, draft the reply, route to the right team, and hand off to a human when unsure.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A3C"/>
                </a:solidFill>
                <a:latin typeface="Segoe UI"/>
              </a:rPr>
              <a:t>Directly maps to Firstsource's core BPM business — customer operations across Communications, Banking &amp; Healthcare.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384048"/>
            <a:ext cx="201168" cy="201168"/>
          </a:xfrm>
          <a:prstGeom prst="ellipse">
            <a:avLst/>
          </a:prstGeom>
          <a:solidFill>
            <a:srgbClr val="F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33"/>
                </a:solidFill>
                <a:latin typeface="Segoe UI"/>
              </a:rPr>
              <a:t>Firstsource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Segoe UI"/>
              </a:rPr>
              <a:t>Incoming Request Processing Workflow  ·  POC  ·  Deepesh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FD6"/>
                </a:solidFill>
                <a:latin typeface="Segoe UI"/>
              </a:rPr>
              <a:t>SLIDE 2  ·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A33"/>
                </a:solidFill>
                <a:latin typeface="Segoe UI"/>
              </a:rPr>
              <a:t>Solution Architecture and Design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822960" cy="54864"/>
          </a:xfrm>
          <a:prstGeom prst="rect">
            <a:avLst/>
          </a:prstGeom>
          <a:solidFill>
            <a:srgbClr val="0B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286000" cy="822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Incoming Request
Email · Web Form ·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33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377440"/>
            <a:ext cx="2286000" cy="822960"/>
          </a:xfrm>
          <a:prstGeom prst="roundRect">
            <a:avLst/>
          </a:prstGeom>
          <a:solidFill>
            <a:srgbClr val="E2EEFC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AI Classify
type · urgency · 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33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77440"/>
            <a:ext cx="2286000" cy="822960"/>
          </a:xfrm>
          <a:prstGeom prst="roundRect">
            <a:avLst/>
          </a:prstGeom>
          <a:solidFill>
            <a:srgbClr val="ECE7FB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AI Reason
(thinking node)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33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377440"/>
            <a:ext cx="2286000" cy="82296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Router
confidence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311" y="3703320"/>
            <a:ext cx="2011680" cy="640080"/>
          </a:xfrm>
          <a:prstGeom prst="roundRect">
            <a:avLst/>
          </a:prstGeom>
          <a:solidFill>
            <a:srgbClr val="FFE8E0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COMPLAINT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77159" y="3703320"/>
            <a:ext cx="2011680" cy="640080"/>
          </a:xfrm>
          <a:prstGeom prst="roundRect">
            <a:avLst/>
          </a:prstGeom>
          <a:solidFill>
            <a:srgbClr val="E4F5EA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ENQUIRY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0007" y="3703320"/>
            <a:ext cx="2011680" cy="640080"/>
          </a:xfrm>
          <a:prstGeom prst="roundRect">
            <a:avLst/>
          </a:prstGeom>
          <a:solidFill>
            <a:srgbClr val="E2EEFC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2855" y="3703320"/>
            <a:ext cx="2011680" cy="640080"/>
          </a:xfrm>
          <a:prstGeom prst="roundRect">
            <a:avLst/>
          </a:prstGeom>
          <a:solidFill>
            <a:srgbClr val="FFD9D2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5703" y="3703320"/>
            <a:ext cx="2011680" cy="640080"/>
          </a:xfrm>
          <a:prstGeom prst="roundRect">
            <a:avLst/>
          </a:prstGeom>
          <a:solidFill>
            <a:srgbClr val="ECE7FB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1A33"/>
                </a:solidFill>
                <a:latin typeface="Segoe UI"/>
              </a:rPr>
              <a:t>HUMAN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6472"/>
                </a:solidFill>
                <a:latin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41448" y="4846320"/>
            <a:ext cx="7315200" cy="6400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A1A33"/>
                </a:solidFill>
                <a:latin typeface="Segoe UI"/>
              </a:rPr>
              <a:t>Output  +  Case Log (SQLite)  +  Human Approval  +  reply written to /outbox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A1A33"/>
                </a:solidFill>
                <a:latin typeface="Segoe UI"/>
              </a:rPr>
              <a:t>System design:   React + TypeScript (UI)   →   FastAPI (API)   →   LangGraph agentic pipeline   →   OpenAI + 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384048"/>
            <a:ext cx="201168" cy="201168"/>
          </a:xfrm>
          <a:prstGeom prst="ellipse">
            <a:avLst/>
          </a:prstGeom>
          <a:solidFill>
            <a:srgbClr val="F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33"/>
                </a:solidFill>
                <a:latin typeface="Segoe UI"/>
              </a:rPr>
              <a:t>Firstsource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Segoe UI"/>
              </a:rPr>
              <a:t>Incoming Request Processing Workflow  ·  POC  ·  Deepesh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FD6"/>
                </a:solidFill>
                <a:latin typeface="Segoe UI"/>
              </a:rPr>
              <a:t>SLIDE 3  ·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A33"/>
                </a:solidFill>
                <a:latin typeface="Segoe UI"/>
              </a:rPr>
              <a:t>Implementation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822960" cy="54864"/>
          </a:xfrm>
          <a:prstGeom prst="rect">
            <a:avLst/>
          </a:prstGeom>
          <a:solidFill>
            <a:srgbClr val="0B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Agentic LangGraph state machine with TWO AI reasoning nodes — a Classify node and a Reason (thinking) node — then a conditional router into 5 branches.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Confidence-gated human-in-the-loop — if the AI is &lt; 60% sure, the case is held for human approval instead of being guessed.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Sentiment detection + AI-chosen department routing (Billing / Provisioning / Field / Network Ops).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Graceful degradation — a rule-based fallback keeps the system running, with a visible warning, if the AI API is unavailable.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9D57"/>
                </a:solidFill>
                <a:latin typeface="Segoe UI"/>
              </a:rPr>
              <a:t>▪   Measured quality — 87% type-classification accuracy on a labelled test set, shown in-app with a confusion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Segoe UI"/>
              </a:rPr>
              <a:t>Code: LangGraph nodes &amp; edges in workflows.py  ·  prompts in classifier.py and responder.py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384048"/>
            <a:ext cx="201168" cy="201168"/>
          </a:xfrm>
          <a:prstGeom prst="ellipse">
            <a:avLst/>
          </a:prstGeom>
          <a:solidFill>
            <a:srgbClr val="F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33"/>
                </a:solidFill>
                <a:latin typeface="Segoe UI"/>
              </a:rPr>
              <a:t>Firstsource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Segoe UI"/>
              </a:rPr>
              <a:t>Incoming Request Processing Workflow  ·  POC  ·  Deepesh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FD6"/>
                </a:solidFill>
                <a:latin typeface="Segoe UI"/>
              </a:rPr>
              <a:t>SLIDE 4  ·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A33"/>
                </a:solidFill>
                <a:latin typeface="Segoe UI"/>
              </a:rPr>
              <a:t>Challenges and Learnings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822960" cy="54864"/>
          </a:xfrm>
          <a:prstGeom prst="rect">
            <a:avLst/>
          </a:prstGeom>
          <a:solidFill>
            <a:srgbClr val="0B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Challenge: telling an angry Complaint from a true Escalation — solved with tone-aware prompting and a confidence gate that routes uncertain cases to a human.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Challenge: corporate SSL inspection blocked the OpenAI API — solved by trusting the OS certificate store (truststore), without disabling security.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A1A33"/>
                </a:solidFill>
                <a:latin typeface="Segoe UI"/>
              </a:rPr>
              <a:t>▪   Trade-off: LangGraph vs plain functions — chose LangGraph for explicit, auditable branching and a clean architecture diagram.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B6472"/>
                </a:solidFill>
                <a:latin typeface="Segoe UI"/>
              </a:rPr>
              <a:t>▪   Honest limitation: the inbox is simulated and some downstream steps are stubs that map to Salesforce / Twilio / email in production; the reply action is really executed.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9D57"/>
                </a:solidFill>
                <a:latin typeface="Segoe UI"/>
              </a:rPr>
              <a:t>▪   Learning: reliability — a fallback engine, output validation, and a measured accuracy number — matters as much as the AI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384048"/>
            <a:ext cx="201168" cy="201168"/>
          </a:xfrm>
          <a:prstGeom prst="ellipse">
            <a:avLst/>
          </a:prstGeom>
          <a:solidFill>
            <a:srgbClr val="F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A33"/>
                </a:solidFill>
                <a:latin typeface="Segoe UI"/>
              </a:rPr>
              <a:t>Firstsource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Segoe UI"/>
              </a:rPr>
              <a:t>Incoming Request Processing Workflow  ·  POC  ·  Deepesh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5FD6"/>
                </a:solidFill>
                <a:latin typeface="Segoe UI"/>
              </a:rPr>
              <a:t>SLIDE 5  ·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1A33"/>
                </a:solidFill>
                <a:latin typeface="Segoe UI"/>
              </a:rPr>
              <a:t>Demo Summary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822960" cy="54864"/>
          </a:xfrm>
          <a:prstGeom prst="rect">
            <a:avLst/>
          </a:prstGeom>
          <a:solidFill>
            <a:srgbClr val="0B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5FD6"/>
                </a:solidFill>
                <a:latin typeface="Segoe UI"/>
              </a:rPr>
              <a:t>Live demo:  https://liberation-production.up.railway.app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Segoe UI"/>
              </a:rPr>
              <a:t>Repository:  &lt;&lt; optional: GitHub repo link 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FD6"/>
                </a:solidFill>
                <a:latin typeface="Segoe UI"/>
              </a:rPr>
              <a:t>What it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Multi-source intake → AI classify + reason → 5 branch workflows.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Human-approval safety net, full audit log, KPI dashboard.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87% measured accuracy; runs even if the AI API is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5FD6"/>
                </a:solidFill>
                <a:latin typeface="Segoe U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Add new nodes easily (e.g. fraud / abuse detection) — it's a graph.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Real integrations: ticketing / PagerDuty escalation, live email intake.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Knowledge-base grounding for enquiry answers; real SLA timers.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A1A33"/>
                </a:solidFill>
                <a:latin typeface="Segoe UI"/>
              </a:rPr>
              <a:t>▪   Feedback loop to improve accuracy; multilingual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